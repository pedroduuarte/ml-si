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58368"/>
            <a:ext cx="2011680" cy="384048"/>
          </a:xfrm>
          <a:prstGeom prst="roundRect">
            <a:avLst/>
          </a:prstGeom>
          <a:solidFill>
            <a:srgbClr val="168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Aprendizagem de Maquina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8138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Sistema Inteligente de Classificacao de Churn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7040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BE5EE"/>
                </a:solidFill>
              </a:defRPr>
            </a:pPr>
            <a:r>
              <a:t>Comparacao entre KNN e Arvore de Decisao para prever clientes em risco de abandono em turismo e viagens.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325880"/>
            <a:ext cx="29718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58200" y="1325880"/>
            <a:ext cx="73152" cy="2926080"/>
          </a:xfrm>
          <a:prstGeom prst="rect">
            <a:avLst/>
          </a:prstGeom>
          <a:solidFill>
            <a:srgbClr val="168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77656" y="1472184"/>
            <a:ext cx="2587752" cy="2706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 b="1">
                <a:solidFill>
                  <a:srgbClr val="132033"/>
                </a:solidFill>
              </a:defRPr>
            </a:pPr>
            <a:r>
              <a:t>Resultado final</a:t>
            </a:r>
          </a:p>
          <a:p>
            <a:pPr>
              <a:spcBef>
                <a:spcPts val="500"/>
              </a:spcBef>
              <a:defRPr sz="1400">
                <a:solidFill>
                  <a:srgbClr val="5E6F82"/>
                </a:solidFill>
              </a:defRPr>
            </a:pPr>
            <a:r>
              <a:t>Modelo escolhido:</a:t>
            </a:r>
          </a:p>
          <a:p>
            <a:pPr>
              <a:spcBef>
                <a:spcPts val="500"/>
              </a:spcBef>
              <a:defRPr sz="1400">
                <a:solidFill>
                  <a:srgbClr val="5E6F82"/>
                </a:solidFill>
              </a:defRPr>
            </a:pPr>
            <a:r>
              <a:t>Decision Tree (depth=7)</a:t>
            </a:r>
          </a:p>
          <a:p>
            <a:pPr>
              <a:spcBef>
                <a:spcPts val="500"/>
              </a:spcBef>
              <a:defRPr sz="1400">
                <a:solidFill>
                  <a:srgbClr val="5E6F82"/>
                </a:solidFill>
              </a:defRPr>
            </a:pPr>
            <a:r>
              <a:t>Melhor recall e F1-Score no cenario de churn.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2"/>
                </a:solidFill>
              </a:defRPr>
            </a:pPr>
            <a:r>
              <a:t>Projeto de Machine Learning - Churn em turismo e viagens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Problema e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920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BE5EE"/>
                </a:solidFill>
              </a:defRPr>
            </a:pPr>
            <a:r>
              <a:t>Contexto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1874519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289304"/>
            <a:ext cx="4828032" cy="16550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Problema de negocio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 empresa quer prever quais clientes podem abandonar o servico.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 previsao permite acao preventiva antes da perda do cliente.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 classe alvo e Target: 0 para baixo risco e 1 para churn.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143000"/>
            <a:ext cx="5394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143000"/>
            <a:ext cx="73152" cy="1874519"/>
          </a:xfrm>
          <a:prstGeom prst="rect">
            <a:avLst/>
          </a:prstGeom>
          <a:solidFill>
            <a:srgbClr val="168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289304"/>
            <a:ext cx="5010912" cy="16550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Objetivo tecnico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Construir um classificador binario.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Comparar KNN e Arvore de Decisao.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Escolher o modelo mais adequado com base em metricas.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337560"/>
            <a:ext cx="10881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337560"/>
            <a:ext cx="73152" cy="1828800"/>
          </a:xfrm>
          <a:prstGeom prst="rect">
            <a:avLst/>
          </a:prstGeom>
          <a:solidFill>
            <a:srgbClr val="B86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483864"/>
            <a:ext cx="10497312" cy="160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Por que recall importa?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Em churn, um falso negativo representa um cliente em risco que nao foi identificado.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Por isso, a avaliacao nao pode depender apenas da acuracia.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O melhor modelo deve equilibrar acertos gerais e identificacao da classe positiva.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5508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2"/>
                </a:solidFill>
              </a:defRPr>
            </a:pPr>
            <a:r>
              <a:t>Projeto de Machine Learning - Churn em turismo e viagens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Base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920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BE5EE"/>
                </a:solidFill>
              </a:defRPr>
            </a:pPr>
            <a:r>
              <a:t>Customertravel.csv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749039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452628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197864"/>
            <a:ext cx="3364991" cy="430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Variaveis usadas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Age: idade do cliente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FrequentFlyer: passageiro frequente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AnnualIncomeClass: classe de renda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ServicesOpted: servicos contratados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AccountSyncedToSocialMedia: rede social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BookedHotelOrNot: reserva de hotel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Target: classe alvo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51560"/>
            <a:ext cx="32004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051560"/>
            <a:ext cx="73152" cy="1920240"/>
          </a:xfrm>
          <a:prstGeom prst="rect">
            <a:avLst/>
          </a:prstGeom>
          <a:solidFill>
            <a:srgbClr val="168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1456" y="1197864"/>
            <a:ext cx="2816352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Caracteristicas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954 linhas no arquivo original.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507 linhas duplicadas analisadas.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60 registros sem informacao em FrequentFlyer.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515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051560"/>
            <a:ext cx="73152" cy="1920240"/>
          </a:xfrm>
          <a:prstGeom prst="rect">
            <a:avLst/>
          </a:prstGeom>
          <a:solidFill>
            <a:srgbClr val="B86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197864"/>
            <a:ext cx="3090672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Saida da limpeza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Arquivo gerado: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data/cleaned_dataset.csv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Categorias convertidas para numeros.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337560"/>
            <a:ext cx="6903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337560"/>
            <a:ext cx="73152" cy="224028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3483864"/>
            <a:ext cx="6519672" cy="2020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Observacao critica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As duplicatas foram identificadas durante a analise exploratoria.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 decisao sobre remover ou manter duplicatas deve ser explicada na apresentacao.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Os valores No Record foram tratados como nulos e removidos.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2"/>
                </a:solidFill>
              </a:defRPr>
            </a:pPr>
            <a:r>
              <a:t>Projeto de Machine Learning - Churn em turismo e viagens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Limpeza e pre-processamento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920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BE5EE"/>
                </a:solidFill>
              </a:defRPr>
            </a:pPr>
            <a:r>
              <a:t>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417320"/>
            <a:ext cx="530352" cy="530352"/>
          </a:xfrm>
          <a:prstGeom prst="ellipse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57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32033"/>
                </a:solidFill>
              </a:defRPr>
            </a:pPr>
            <a:r>
              <a:t>Ler CSV bruto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2728" y="1664208"/>
            <a:ext cx="1143000" cy="36576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32888" y="1417320"/>
            <a:ext cx="530352" cy="530352"/>
          </a:xfrm>
          <a:prstGeom prst="ellipse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57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32033"/>
                </a:solidFill>
              </a:defRPr>
            </a:pPr>
            <a:r>
              <a:t>Validar colunas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9816" y="1664208"/>
            <a:ext cx="1143000" cy="36576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9976" y="1417320"/>
            <a:ext cx="530352" cy="530352"/>
          </a:xfrm>
          <a:prstGeom prst="ellipse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2057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32033"/>
                </a:solidFill>
              </a:defRPr>
            </a:pPr>
            <a:r>
              <a:t>Tratar No Record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46904" y="1664208"/>
            <a:ext cx="1143000" cy="36576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27064" y="1417320"/>
            <a:ext cx="530352" cy="530352"/>
          </a:xfrm>
          <a:prstGeom prst="ellipse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4" y="2057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32033"/>
                </a:solidFill>
              </a:defRPr>
            </a:pPr>
            <a:r>
              <a:t>Remover nulos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93992" y="1664208"/>
            <a:ext cx="1143000" cy="36576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74152" y="1417320"/>
            <a:ext cx="530352" cy="530352"/>
          </a:xfrm>
          <a:prstGeom prst="ellipse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2057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32033"/>
                </a:solidFill>
              </a:defRPr>
            </a:pPr>
            <a:r>
              <a:t>Encoding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1664208"/>
            <a:ext cx="1143000" cy="36576"/>
          </a:xfrm>
          <a:prstGeom prst="rect">
            <a:avLst/>
          </a:prstGeom>
          <a:solidFill>
            <a:srgbClr val="D6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21240" y="1417320"/>
            <a:ext cx="530352" cy="530352"/>
          </a:xfrm>
          <a:prstGeom prst="ellipse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057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32033"/>
                </a:solidFill>
              </a:defRPr>
            </a:pPr>
            <a:r>
              <a:t>Salvar CSV limpo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06324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063240"/>
            <a:ext cx="73152" cy="2286000"/>
          </a:xfrm>
          <a:prstGeom prst="rect">
            <a:avLst/>
          </a:prstGeom>
          <a:solidFill>
            <a:srgbClr val="168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209544"/>
            <a:ext cx="4919472" cy="2066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Encoding aplicado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Low Income = 0, Middle Income = 1, High Income = 2.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No = 0 e Yes = 1.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Apos essa etapa, os modelos recebem apenas valores numericos.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06324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063240"/>
            <a:ext cx="73152" cy="2286000"/>
          </a:xfrm>
          <a:prstGeom prst="rect">
            <a:avLst/>
          </a:prstGeom>
          <a:solidFill>
            <a:srgbClr val="B86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3209544"/>
            <a:ext cx="4919472" cy="2066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Split e scaling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Treino/teste em 80/20 com stratify=y.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StandardScaler aplicado antes do KNN.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O scaler aprende no treino e transforma treino e teste.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35508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2"/>
                </a:solidFill>
              </a:defRPr>
            </a:pPr>
            <a:r>
              <a:t>Projeto de Machine Learning - Churn em turismo e viagens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Modelo KNN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920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BE5EE"/>
                </a:solidFill>
              </a:defRPr>
            </a:pPr>
            <a:r>
              <a:t>Distancia entre clientes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7490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448056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197864"/>
            <a:ext cx="3364991" cy="4261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Como funciona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O KNN compara um cliente com os exemplos mais proximos.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 classe e decidida pelos vizinhos mais semelhantes.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Por depender de distancia, a escala dos atributos afeta muito o resultado.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5156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051560"/>
            <a:ext cx="73152" cy="2057400"/>
          </a:xfrm>
          <a:prstGeom prst="rect">
            <a:avLst/>
          </a:prstGeom>
          <a:solidFill>
            <a:srgbClr val="168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1197864"/>
            <a:ext cx="2862072" cy="1837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Parametros testados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n_neighbors: 3, 5, 7.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metric: euclidean e manhattan.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GridSearchCV com cv=5.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515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051560"/>
            <a:ext cx="73152" cy="2057400"/>
          </a:xfrm>
          <a:prstGeom prst="rect">
            <a:avLst/>
          </a:prstGeom>
          <a:solidFill>
            <a:srgbClr val="B86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197864"/>
            <a:ext cx="3090672" cy="1837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Melhor KNN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n_neighbors = 5.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metric = manhattan.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Acuracia = 0.8603.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429000"/>
            <a:ext cx="69494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3429000"/>
            <a:ext cx="73152" cy="21031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3575304"/>
            <a:ext cx="6565392" cy="1883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Ponto critico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O KNN teve boa precisao: 0.8000.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Mas teve recall menor: 0.5581.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Isso significa que deixou passar muitos clientes positivos para churn.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2"/>
                </a:solidFill>
              </a:defRPr>
            </a:pPr>
            <a:r>
              <a:t>Projeto de Machine Learning - Churn em turismo e viagens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5. Arvore de Decisao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920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BE5EE"/>
                </a:solidFill>
              </a:defRPr>
            </a:pPr>
            <a:r>
              <a:t>Regras interpretaveis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7490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448056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197864"/>
            <a:ext cx="3364991" cy="4261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Como funciona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Cria regras do tipo se/entao a partir dos atributos.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E mais facil de explicar em uma apresentacao.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Permite controlar complexidade com max_depth.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5156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051560"/>
            <a:ext cx="73152" cy="2057400"/>
          </a:xfrm>
          <a:prstGeom prst="rect">
            <a:avLst/>
          </a:prstGeom>
          <a:solidFill>
            <a:srgbClr val="168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1197864"/>
            <a:ext cx="2862072" cy="1837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Profundidades testadas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max_depth = 3.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max_depth = 5.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max_depth = 7.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max_depth = None.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515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051560"/>
            <a:ext cx="73152" cy="2057400"/>
          </a:xfrm>
          <a:prstGeom prst="rect">
            <a:avLst/>
          </a:prstGeom>
          <a:solidFill>
            <a:srgbClr val="B86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197864"/>
            <a:ext cx="3090672" cy="1837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Modelo final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Decision Tree depth=7.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Acuracia = 0.8827.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Recall = 0.7674.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F1-Score = 0.7586.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429000"/>
            <a:ext cx="69494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3429000"/>
            <a:ext cx="73152" cy="21031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5736" y="3575304"/>
            <a:ext cx="6565392" cy="1883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Por que controlar profundidade?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Arvore muito rasa pode aprender pouco.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Arvore muito profunda pode decorar o treino.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depth=7 oferece bom equilibrio para este dataset.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2"/>
                </a:solidFill>
              </a:defRPr>
            </a:pPr>
            <a:r>
              <a:t>Projeto de Machine Learning - Churn em turismo e viagens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6. Resultados e metricas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920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BE5EE"/>
                </a:solidFill>
              </a:defRPr>
            </a:pPr>
            <a:r>
              <a:t>KNN vs Decision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7947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16152"/>
            <a:ext cx="3282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Tabela comparativa de metricas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50392" y="1737360"/>
          <a:ext cx="3438144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21792"/>
                <a:gridCol w="621792"/>
                <a:gridCol w="658368"/>
                <a:gridCol w="62179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3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13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Prec</a:t>
                      </a:r>
                    </a:p>
                  </a:txBody>
                  <a:tcPr>
                    <a:solidFill>
                      <a:srgbClr val="13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3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32033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32033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32033"/>
                          </a:solidFill>
                        </a:defRPr>
                      </a:pPr>
                      <a:r>
                        <a:t>0.860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32033"/>
                          </a:solidFill>
                        </a:defRPr>
                      </a:pPr>
                      <a:r>
                        <a:t>0.800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32033"/>
                          </a:solidFill>
                        </a:defRPr>
                      </a:pPr>
                      <a:r>
                        <a:t>0.558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32033"/>
                          </a:solidFill>
                        </a:defRPr>
                      </a:pPr>
                      <a:r>
                        <a:t>0.658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32033"/>
                          </a:solidFill>
                        </a:defRPr>
                      </a:pPr>
                      <a:r>
                        <a:t>Tree d=7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32033"/>
                          </a:solidFill>
                        </a:defRPr>
                      </a:pPr>
                      <a:r>
                        <a:t>0.883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32033"/>
                          </a:solidFill>
                        </a:defRPr>
                      </a:pPr>
                      <a:r>
                        <a:t>0.750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32033"/>
                          </a:solidFill>
                        </a:defRPr>
                      </a:pPr>
                      <a:r>
                        <a:t>0.767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32033"/>
                          </a:solidFill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3474720"/>
            <a:ext cx="37947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474720"/>
            <a:ext cx="73152" cy="2148840"/>
          </a:xfrm>
          <a:prstGeom prst="rect">
            <a:avLst/>
          </a:prstGeom>
          <a:solidFill>
            <a:srgbClr val="B86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3621024"/>
            <a:ext cx="3410712" cy="1929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Leitura critica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KNN tem maior precisao.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Decision Tree tem maior acuracia, recall e F1.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Para churn, recall e F1 sao decisivos.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051560"/>
            <a:ext cx="6812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mparacao-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6355080" cy="3791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35508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2"/>
                </a:solidFill>
              </a:defRPr>
            </a:pPr>
            <a:r>
              <a:t>Projeto de Machine Learning - Churn em turismo e viagens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7. Matriz de confusao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920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BE5EE"/>
                </a:solidFill>
              </a:defRPr>
            </a:pPr>
            <a:r>
              <a:t>Tipos de erro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24128"/>
            <a:ext cx="6446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trizes-de-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5989320" cy="28057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051560"/>
            <a:ext cx="41605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051560"/>
            <a:ext cx="73152" cy="201168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34656" y="1197864"/>
            <a:ext cx="3776472" cy="1792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O que observar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Verdadeiros positivos: churn identificado corretamente.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Falsos negativos: clientes em risco nao detectados.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Em churn, falso negativo e especialmente importante.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429000"/>
            <a:ext cx="4160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3429000"/>
            <a:ext cx="73152" cy="2103120"/>
          </a:xfrm>
          <a:prstGeom prst="rect">
            <a:avLst/>
          </a:prstGeom>
          <a:solidFill>
            <a:srgbClr val="168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34656" y="3575304"/>
            <a:ext cx="3776472" cy="1883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Interpretacao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 Decision Tree identifica melhor a classe positiva.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Isso explica o recall superior.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Por isso ela e mais adequada para retencao de clientes.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5508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2"/>
                </a:solidFill>
              </a:defRPr>
            </a:pPr>
            <a:r>
              <a:t>Projeto de Machine Learning - Churn em turismo e viagens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8. Fase bonus: interface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920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BE5EE"/>
                </a:solidFill>
              </a:defRPr>
            </a:pPr>
            <a:r>
              <a:t>Deploy local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886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452628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197864"/>
            <a:ext cx="3502152" cy="430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Arquitetura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scripts/train_bonus_model.py gera o modelo.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src/churn_model.py valida e prediz.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app.py expoe a API local.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web/ contem HTML, CSS e JavaScript.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051560"/>
            <a:ext cx="3063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051560"/>
            <a:ext cx="73152" cy="2057400"/>
          </a:xfrm>
          <a:prstGeom prst="rect">
            <a:avLst/>
          </a:prstGeom>
          <a:solidFill>
            <a:srgbClr val="168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28616" y="1197864"/>
            <a:ext cx="2679192" cy="1837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Fluxo do usuario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Preenche dados do cliente.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 pagina chama /api/predict.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O resultado aparece em tempo real.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5156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051560"/>
            <a:ext cx="73152" cy="2057400"/>
          </a:xfrm>
          <a:prstGeom prst="rect">
            <a:avLst/>
          </a:prstGeom>
          <a:solidFill>
            <a:srgbClr val="B86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197864"/>
            <a:ext cx="3090672" cy="1837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Boa pratica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Treino separado da interface.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Modelo salvo em .pkl local.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Artefato ignorado no Git por ser recriavel.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3429000"/>
            <a:ext cx="67665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3429000"/>
            <a:ext cx="73152" cy="21031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28616" y="3575304"/>
            <a:ext cx="6382512" cy="1883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Resultado da fase bonus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 interface simula o usuario final inserindo dados.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O sistema retorna baixo ou alto risco de churn.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Tambem exibe probabilidade e metricas do modelo.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2"/>
                </a:solidFill>
              </a:defRPr>
            </a:pPr>
            <a:r>
              <a:t>Projeto de Machine Learning - Churn em turismo e viagens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3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46304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9. Conclusao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19202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BE5EE"/>
                </a:solidFill>
              </a:defRPr>
            </a:pPr>
            <a:r>
              <a:t>Modelo escolhido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4434840"/>
          </a:xfrm>
          <a:prstGeom prst="rect">
            <a:avLst/>
          </a:prstGeom>
          <a:solidFill>
            <a:srgbClr val="168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197864"/>
            <a:ext cx="4828032" cy="4215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Decision Tree (depth=7)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Foi escolhida por ter melhor equilibrio geral.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Acuracia: 0.8827.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Recall: 0.7674.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F1-Score: 0.7586.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Mais adequada ao objetivo de identificar clientes em risco.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05156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051560"/>
            <a:ext cx="73152" cy="2057400"/>
          </a:xfrm>
          <a:prstGeom prst="rect">
            <a:avLst/>
          </a:prstGeom>
          <a:solidFill>
            <a:srgbClr val="1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197864"/>
            <a:ext cx="5010912" cy="1837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Mensagem final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O projeto cobre limpeza, modelagem, avaliacao e interface.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 decisao foi baseada em metricas e interpretacao do cenario.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O foco em churn torna recall e F1-Score essenciais.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42900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3429000"/>
            <a:ext cx="73152" cy="2057400"/>
          </a:xfrm>
          <a:prstGeom prst="rect">
            <a:avLst/>
          </a:prstGeom>
          <a:solidFill>
            <a:srgbClr val="B86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3575304"/>
            <a:ext cx="5010912" cy="1837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600" b="1">
                <a:solidFill>
                  <a:srgbClr val="132033"/>
                </a:solidFill>
              </a:defRPr>
            </a:pPr>
            <a:r>
              <a:t>Possiveis melhorias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Explicar ou remover duplicatas.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Adicionar testes automatizados.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Comparar tambem Naive Bayes.</a:t>
            </a:r>
          </a:p>
          <a:p>
            <a:pPr>
              <a:spcBef>
                <a:spcPts val="500"/>
              </a:spcBef>
              <a:defRPr sz="1200">
                <a:solidFill>
                  <a:srgbClr val="5E6F82"/>
                </a:solidFill>
              </a:defRPr>
            </a:pPr>
            <a:r>
              <a:t>Exibir importancia das variaveis.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55080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F82"/>
                </a:solidFill>
              </a:defRPr>
            </a:pPr>
            <a:r>
              <a:t>Projeto de Machine Learning - Churn em turismo e viagens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